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3F31A0-3B16-46DC-A058-33A56D2F11B3}">
  <a:tblStyle styleId="{E13F31A0-3B16-46DC-A058-33A56D2F11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28eaaa7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28eaaa7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28eaaa79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28eaaa79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28eaaa79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28eaaa79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28eaaa7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28eaaa7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28eaaa79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28eaaa79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28eaaa79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28eaaa79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28eaaa79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28eaaa79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28eaaa79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28eaaa79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28eaaa79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28eaaa79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F3A5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15.png"/><Relationship Id="rId7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17725"/>
            <a:ext cx="85206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00">
                <a:solidFill>
                  <a:srgbClr val="FFFFFF"/>
                </a:solidFill>
              </a:rPr>
              <a:t>Hierarchical Feature Fusion for Improved Optical Character Recognition using CNN-Transformer Architecture</a:t>
            </a:r>
            <a:endParaRPr b="1" sz="4380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82800" y="2869888"/>
            <a:ext cx="8378400" cy="14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rgbClr val="FFFFFF"/>
                </a:solidFill>
              </a:rPr>
              <a:t>Veljko Petković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rgbClr val="FFFFFF"/>
                </a:solidFill>
              </a:rPr>
              <a:t>Faculty of Sciences and Mathematics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rgbClr val="FFFFFF"/>
                </a:solidFill>
              </a:rPr>
              <a:t>University of Niš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rgbClr val="FFFFFF"/>
                </a:solidFill>
              </a:rPr>
              <a:t>ORCID: 0009-0008-6082-3224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00"/>
          </a:p>
        </p:txBody>
      </p:sp>
      <p:sp>
        <p:nvSpPr>
          <p:cNvPr id="56" name="Google Shape;56;p13"/>
          <p:cNvSpPr txBox="1"/>
          <p:nvPr/>
        </p:nvSpPr>
        <p:spPr>
          <a:xfrm>
            <a:off x="25" y="4544675"/>
            <a:ext cx="9144000" cy="598800"/>
          </a:xfrm>
          <a:prstGeom prst="rect">
            <a:avLst/>
          </a:prstGeom>
          <a:solidFill>
            <a:srgbClr val="122C5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FFFFFF"/>
                </a:solidFill>
              </a:rPr>
              <a:t>SICAAI 2026 · Kragujevac · May 20–21</a:t>
            </a:r>
            <a:endParaRPr sz="2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2228400" y="2543613"/>
            <a:ext cx="4687200" cy="267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797" y="4632262"/>
            <a:ext cx="825253" cy="42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pmf_logo3-CI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6820" y="4568695"/>
            <a:ext cx="1579476" cy="526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7456550" y="4569600"/>
            <a:ext cx="1580700" cy="52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3" title="pmf_logo3-CI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7761" y="4569600"/>
            <a:ext cx="1579488" cy="5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7725" y="10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Why is Optical Character Recognition still hard?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7967368" y="4663225"/>
            <a:ext cx="1053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r>
              <a:rPr lang="en">
                <a:solidFill>
                  <a:schemeClr val="lt1"/>
                </a:solidFill>
              </a:rPr>
              <a:t>/10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8" name="Google Shape;68;p14"/>
          <p:cNvCxnSpPr/>
          <p:nvPr/>
        </p:nvCxnSpPr>
        <p:spPr>
          <a:xfrm flipH="1" rot="10800000">
            <a:off x="17725" y="757725"/>
            <a:ext cx="3654900" cy="87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" name="Google Shape;69;p14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2825" y="3090475"/>
            <a:ext cx="3898350" cy="866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1846200" y="4009225"/>
            <a:ext cx="5451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Heavy noise, perspective distortion, brightness shift, typical heavily augmented  sample 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71" name="Google Shape;71;p14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2825" y="1128125"/>
            <a:ext cx="3898341" cy="866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2480675" y="2072475"/>
            <a:ext cx="41136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Clean text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87725" y="10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Synthetic dataset - 100,000 images (288 × 64 px)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7967368" y="4663225"/>
            <a:ext cx="1053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r>
              <a:rPr lang="en">
                <a:solidFill>
                  <a:schemeClr val="lt1"/>
                </a:solidFill>
              </a:rPr>
              <a:t>/10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17725" y="757725"/>
            <a:ext cx="3654900" cy="87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5"/>
          <p:cNvSpPr txBox="1"/>
          <p:nvPr/>
        </p:nvSpPr>
        <p:spPr>
          <a:xfrm>
            <a:off x="763363" y="934750"/>
            <a:ext cx="183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EASY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696563" y="934750"/>
            <a:ext cx="183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MEDIUM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629763" y="934750"/>
            <a:ext cx="183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HARD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72313" y="2664850"/>
            <a:ext cx="26160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Slight </a:t>
            </a:r>
            <a:r>
              <a:rPr lang="en" sz="1800">
                <a:solidFill>
                  <a:schemeClr val="lt1"/>
                </a:solidFill>
              </a:rPr>
              <a:t>noise</a:t>
            </a:r>
            <a:r>
              <a:rPr lang="en" sz="1800">
                <a:solidFill>
                  <a:schemeClr val="lt1"/>
                </a:solidFill>
              </a:rPr>
              <a:t>, ±1% rotation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483263" y="2344200"/>
            <a:ext cx="22605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Gaussian blur, moderate noise, contrast adjustment,  </a:t>
            </a:r>
            <a:r>
              <a:rPr lang="en" sz="1800">
                <a:solidFill>
                  <a:schemeClr val="lt1"/>
                </a:solidFill>
              </a:rPr>
              <a:t>compression, ±2% rotation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6238713" y="2468350"/>
            <a:ext cx="2616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Perspective distortion, heavy noise, gamma, contrast, brightness shifts, </a:t>
            </a:r>
            <a:r>
              <a:rPr lang="en" sz="1800">
                <a:solidFill>
                  <a:schemeClr val="lt1"/>
                </a:solidFill>
              </a:rPr>
              <a:t>±3% rotation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86" name="Google Shape;86;p15" title="0004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50" y="1496675"/>
            <a:ext cx="28767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title="0675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1913" y="1496675"/>
            <a:ext cx="27432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 title="09670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351" y="1496674"/>
            <a:ext cx="28767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241950" y="4269625"/>
            <a:ext cx="383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max 12 characters per string 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044800" y="4269625"/>
            <a:ext cx="274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63-char alphabet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136125" y="4269625"/>
            <a:ext cx="1732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14 fonts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2" name="Google Shape;92;p15"/>
          <p:cNvCxnSpPr/>
          <p:nvPr/>
        </p:nvCxnSpPr>
        <p:spPr>
          <a:xfrm flipH="1" rot="10800000">
            <a:off x="2100" y="4122438"/>
            <a:ext cx="9139800" cy="189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87725" y="10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Baseline CNN-Transformer architecture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7967368" y="4663225"/>
            <a:ext cx="1053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r>
              <a:rPr lang="en">
                <a:solidFill>
                  <a:schemeClr val="lt1"/>
                </a:solidFill>
              </a:rPr>
              <a:t>/10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9" name="Google Shape;99;p16"/>
          <p:cNvCxnSpPr/>
          <p:nvPr/>
        </p:nvCxnSpPr>
        <p:spPr>
          <a:xfrm flipH="1" rot="10800000">
            <a:off x="17725" y="757725"/>
            <a:ext cx="3654900" cy="87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0" name="Google Shape;100;p16" title="image_of_cnn_transformer_mod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00" y="883625"/>
            <a:ext cx="8398001" cy="366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87725" y="4709575"/>
            <a:ext cx="23988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24.5M parameters 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2562300" y="4709575"/>
            <a:ext cx="20097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7 CNN layers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4441650" y="4709575"/>
            <a:ext cx="38904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6 Transformer layers with 8 heads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87725" y="10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Hierarchical Feature Fusion Architecture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7967368" y="4663225"/>
            <a:ext cx="1053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r>
              <a:rPr lang="en">
                <a:solidFill>
                  <a:schemeClr val="lt1"/>
                </a:solidFill>
              </a:rPr>
              <a:t>/10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10" name="Google Shape;110;p17"/>
          <p:cNvCxnSpPr/>
          <p:nvPr/>
        </p:nvCxnSpPr>
        <p:spPr>
          <a:xfrm flipH="1" rot="10800000">
            <a:off x="17725" y="757725"/>
            <a:ext cx="3654900" cy="87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7"/>
          <p:cNvSpPr txBox="1"/>
          <p:nvPr/>
        </p:nvSpPr>
        <p:spPr>
          <a:xfrm>
            <a:off x="179575" y="4711975"/>
            <a:ext cx="34200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25.6M </a:t>
            </a:r>
            <a:r>
              <a:rPr lang="en" sz="1600">
                <a:solidFill>
                  <a:schemeClr val="lt1"/>
                </a:solidFill>
              </a:rPr>
              <a:t>parameters (+1.1M)  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3599575" y="4711975"/>
            <a:ext cx="45363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Shallow, deep, and final features get fused 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13" name="Google Shape;113;p17" title="image_of_hff_cnn_transformer_mod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50" y="928850"/>
            <a:ext cx="8986101" cy="36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87725" y="10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Training setup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7967368" y="4663225"/>
            <a:ext cx="1053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r>
              <a:rPr lang="en">
                <a:solidFill>
                  <a:schemeClr val="lt1"/>
                </a:solidFill>
              </a:rPr>
              <a:t>/10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20" name="Google Shape;120;p18"/>
          <p:cNvCxnSpPr/>
          <p:nvPr/>
        </p:nvCxnSpPr>
        <p:spPr>
          <a:xfrm flipH="1" rot="10800000">
            <a:off x="17725" y="757725"/>
            <a:ext cx="3654900" cy="87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8"/>
          <p:cNvSpPr txBox="1"/>
          <p:nvPr/>
        </p:nvSpPr>
        <p:spPr>
          <a:xfrm>
            <a:off x="2200800" y="1032725"/>
            <a:ext cx="47424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Both models trained identically. 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945325" y="1674325"/>
            <a:ext cx="2727300" cy="29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Optimizer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AdamW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Learning rate 7e-5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Batch size 128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Loss &amp; decoding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CTC loss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Greedy decoding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4612500" y="1674325"/>
            <a:ext cx="4092900" cy="29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Schedule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3-epoch linear warmup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Cosine decay for next 12 epochs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Weight decay 1e-2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Gradient clipping at 5.0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Hardware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NVIDIA L4 GPU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87725" y="10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Quantitative results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7967368" y="4663225"/>
            <a:ext cx="1053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r>
              <a:rPr lang="en">
                <a:solidFill>
                  <a:schemeClr val="lt1"/>
                </a:solidFill>
              </a:rPr>
              <a:t>/10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30" name="Google Shape;130;p19"/>
          <p:cNvCxnSpPr/>
          <p:nvPr/>
        </p:nvCxnSpPr>
        <p:spPr>
          <a:xfrm flipH="1" rot="10800000">
            <a:off x="17725" y="757725"/>
            <a:ext cx="3654900" cy="87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1" name="Google Shape;131;p19"/>
          <p:cNvGraphicFramePr/>
          <p:nvPr/>
        </p:nvGraphicFramePr>
        <p:xfrm>
          <a:off x="275738" y="9646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{E13F31A0-3B16-46DC-A058-33A56D2F11B3}</a:tableStyleId>
              </a:tblPr>
              <a:tblGrid>
                <a:gridCol w="2075525"/>
                <a:gridCol w="1361500"/>
                <a:gridCol w="1718500"/>
                <a:gridCol w="1718500"/>
                <a:gridCol w="171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MODEL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CER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Loss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Total training time 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Params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Baseline CNN-Transformer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2.62%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0.0622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62.22 min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24.5M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HFF-CNN-Transformer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D52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2.44%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D52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0.0570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D52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67.22 min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D52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25.6M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D5285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19"/>
          <p:cNvSpPr txBox="1"/>
          <p:nvPr/>
        </p:nvSpPr>
        <p:spPr>
          <a:xfrm>
            <a:off x="5305450" y="2838650"/>
            <a:ext cx="375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6.87%</a:t>
            </a:r>
            <a:r>
              <a:rPr lang="en" sz="1800">
                <a:solidFill>
                  <a:schemeClr val="lt1"/>
                </a:solidFill>
              </a:rPr>
              <a:t> relative Character Error Loss improvement 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5516950" y="3808600"/>
            <a:ext cx="3336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+8% training time 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25" y="2453725"/>
            <a:ext cx="5142825" cy="260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19"/>
          <p:cNvCxnSpPr/>
          <p:nvPr/>
        </p:nvCxnSpPr>
        <p:spPr>
          <a:xfrm>
            <a:off x="4187700" y="2729550"/>
            <a:ext cx="574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19"/>
          <p:cNvSpPr txBox="1"/>
          <p:nvPr/>
        </p:nvSpPr>
        <p:spPr>
          <a:xfrm>
            <a:off x="4001925" y="2676975"/>
            <a:ext cx="9666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HFF Model CER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37" name="Google Shape;137;p19"/>
          <p:cNvCxnSpPr/>
          <p:nvPr/>
        </p:nvCxnSpPr>
        <p:spPr>
          <a:xfrm>
            <a:off x="4187700" y="3060950"/>
            <a:ext cx="5748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9"/>
          <p:cNvSpPr txBox="1"/>
          <p:nvPr/>
        </p:nvSpPr>
        <p:spPr>
          <a:xfrm>
            <a:off x="3894975" y="3010100"/>
            <a:ext cx="11805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Baseline</a:t>
            </a:r>
            <a:r>
              <a:rPr b="1" lang="en" sz="800">
                <a:solidFill>
                  <a:schemeClr val="dk1"/>
                </a:solidFill>
              </a:rPr>
              <a:t> Model CER</a:t>
            </a:r>
            <a:endParaRPr b="1"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87725" y="10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Qualitative examples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7967368" y="4663225"/>
            <a:ext cx="1053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r>
              <a:rPr lang="en">
                <a:solidFill>
                  <a:schemeClr val="lt1"/>
                </a:solidFill>
              </a:rPr>
              <a:t>/10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45" name="Google Shape;145;p20"/>
          <p:cNvCxnSpPr/>
          <p:nvPr/>
        </p:nvCxnSpPr>
        <p:spPr>
          <a:xfrm flipH="1" rot="10800000">
            <a:off x="17725" y="757725"/>
            <a:ext cx="3654900" cy="87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6" name="Google Shape;146;p20"/>
          <p:cNvGraphicFramePr/>
          <p:nvPr/>
        </p:nvGraphicFramePr>
        <p:xfrm>
          <a:off x="137550" y="94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{E13F31A0-3B16-46DC-A058-33A56D2F11B3}</a:tableStyleId>
              </a:tblPr>
              <a:tblGrid>
                <a:gridCol w="2956300"/>
                <a:gridCol w="2956300"/>
                <a:gridCol w="2956300"/>
              </a:tblGrid>
              <a:tr h="61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</a:rPr>
                        <a:t>Image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</a:rPr>
                        <a:t>Baseline model prediction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</a:rPr>
                        <a:t>HFF model prediction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Program fies ❌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Program files ✅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AccJe1223 ❌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ABcde123 ✅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I writin9 ❌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I am writin9 ❌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Hadto read ❌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Hardto ready ❌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Transformer 5 ✅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Transformer 5 ✅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47" name="Google Shape;147;p20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50" y="3404575"/>
            <a:ext cx="2956300" cy="6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550" y="1561750"/>
            <a:ext cx="2956300" cy="6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 title="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550" y="2178375"/>
            <a:ext cx="2956300" cy="6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 title="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550" y="2795000"/>
            <a:ext cx="2956300" cy="6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title="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7550" y="4028250"/>
            <a:ext cx="2956300" cy="6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87725" y="10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Conclusions &amp; Limitations &amp; Future work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7967368" y="4663225"/>
            <a:ext cx="1053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r>
              <a:rPr lang="en">
                <a:solidFill>
                  <a:schemeClr val="lt1"/>
                </a:solidFill>
              </a:rPr>
              <a:t>/10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58" name="Google Shape;158;p21"/>
          <p:cNvCxnSpPr/>
          <p:nvPr/>
        </p:nvCxnSpPr>
        <p:spPr>
          <a:xfrm flipH="1" rot="10800000">
            <a:off x="17725" y="757725"/>
            <a:ext cx="3654900" cy="87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1"/>
          <p:cNvSpPr txBox="1"/>
          <p:nvPr/>
        </p:nvSpPr>
        <p:spPr>
          <a:xfrm>
            <a:off x="140350" y="1716500"/>
            <a:ext cx="4356600" cy="25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Conclusions: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HFF + adaptive masking improves CER by 6.87% (relative)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+1.1M parameters (~4% increase)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+5 min training time (~</a:t>
            </a:r>
            <a:r>
              <a:rPr lang="en" sz="1800">
                <a:solidFill>
                  <a:schemeClr val="lt1"/>
                </a:solidFill>
              </a:rPr>
              <a:t>8% increase) 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4800275" y="1716500"/>
            <a:ext cx="4356600" cy="25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Limitations: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We evaluated on </a:t>
            </a:r>
            <a:r>
              <a:rPr lang="en" sz="1800">
                <a:solidFill>
                  <a:schemeClr val="lt1"/>
                </a:solidFill>
              </a:rPr>
              <a:t>synthetic</a:t>
            </a:r>
            <a:r>
              <a:rPr lang="en" sz="1800">
                <a:solidFill>
                  <a:schemeClr val="lt1"/>
                </a:solidFill>
              </a:rPr>
              <a:t> data only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No component-level ablation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Future work: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Train and test on real text images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Beam search decoding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Larger architectures and longer sequences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you. Questions?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6" name="Google Shape;166;p22"/>
          <p:cNvSpPr txBox="1"/>
          <p:nvPr>
            <p:ph idx="12" type="sldNum"/>
          </p:nvPr>
        </p:nvSpPr>
        <p:spPr>
          <a:xfrm>
            <a:off x="7967368" y="4663225"/>
            <a:ext cx="1053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r>
              <a:rPr lang="en">
                <a:solidFill>
                  <a:schemeClr val="lt1"/>
                </a:solidFill>
              </a:rPr>
              <a:t>/10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67" name="Google Shape;167;p22"/>
          <p:cNvCxnSpPr/>
          <p:nvPr/>
        </p:nvCxnSpPr>
        <p:spPr>
          <a:xfrm flipH="1" rot="10800000">
            <a:off x="2744550" y="2933700"/>
            <a:ext cx="3654900" cy="87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2"/>
          <p:cNvSpPr txBox="1"/>
          <p:nvPr/>
        </p:nvSpPr>
        <p:spPr>
          <a:xfrm>
            <a:off x="2576700" y="3858525"/>
            <a:ext cx="399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veljko.petkovic@pmf.edu.rs 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